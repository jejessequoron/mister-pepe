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805b50b-8148-a72a-1bb1-709264ded907}">
          <p14:sldIdLst>
            <p14:sldId id="256"/>
          </p14:sldIdLst>
        </p14:section>
        <p14:section name="Overview" id="{f687e14a-a0ac-5d00-4d34-0daf98400fb8}">
          <p14:sldIdLst>
            <p14:sldId id="257"/>
          </p14:sldIdLst>
        </p14:section>
        <p14:section name="Tasks" id="{e5d5a33c-fe6c-1027-c372-a2cd15461bd6}">
          <p14:sldIdLst>
            <p14:sldId id="258"/>
            <p14:sldId id="259"/>
            <p14:sldId id="260"/>
            <p14:sldId id="261"/>
            <p14:sldId id="262"/>
          </p14:sldIdLst>
        </p14:section>
        <p14:section name="End" id="{47f70509-0402-bff9-ea9c-a070344f9c9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PP2 Midterm Project  ·  Library Management System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8138160" y="1417320"/>
            <a:ext cx="3291840" cy="3291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Boo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19456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1"/>
                </a:solidFill>
              </a:rPr>
              <a:t>MUSYA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459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Library System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4747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A"/>
                </a:solidFill>
              </a:rPr>
              <a:t>A Python program for books, members, and borrowing records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754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Team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Kuanysh Asker  ·  Zhan Sharkhanov  ·  Zhanibek Uzakbai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FE0DA"/>
                </a:solidFill>
              </a:rPr>
              <a:t>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program stores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Python + SQLite  ·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 made a small library program to add and manage books, members, and loans.</a:t>
            </a:r>
            <a:endParaRPr lang="en-US" sz="1800" dirty="0"/>
          </a:p>
        </p:txBody>
      </p:sp>
      <p:sp>
        <p:nvSpPr>
          <p:cNvPr id="4" name="Books card"/>
          <p:cNvSpPr/>
          <p:nvPr/>
        </p:nvSpPr>
        <p:spPr>
          <a:xfrm>
            <a:off x="548640" y="1828800"/>
            <a:ext cx="320040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Books icon circle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Book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book_id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</a:t>
            </a:r>
            <a:endParaRPr lang="en-US" sz="1500" dirty="0"/>
          </a:p>
        </p:txBody>
      </p:sp>
      <p:pic>
        <p:nvPicPr>
          <p:cNvPr id="9" name="Link 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2930652"/>
            <a:ext cx="402336" cy="402336"/>
          </a:xfrm>
          <a:prstGeom prst="rect">
            <a:avLst/>
          </a:prstGeom>
        </p:spPr>
      </p:pic>
      <p:sp>
        <p:nvSpPr>
          <p:cNvPr id="10" name="Borrowings card"/>
          <p:cNvSpPr/>
          <p:nvPr/>
        </p:nvSpPr>
        <p:spPr>
          <a:xfrm>
            <a:off x="4480560" y="1828800"/>
            <a:ext cx="3200400" cy="26060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1" name="Borrowings icon circle"/>
          <p:cNvSpPr/>
          <p:nvPr/>
        </p:nvSpPr>
        <p:spPr>
          <a:xfrm>
            <a:off x="475488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Borrowing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2402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4068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Borrowings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2834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F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borrowing_id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F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book_id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F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member_id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F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returned</a:t>
            </a:r>
            <a:endParaRPr lang="en-US" sz="1500" dirty="0"/>
          </a:p>
        </p:txBody>
      </p:sp>
      <p:pic>
        <p:nvPicPr>
          <p:cNvPr id="15" name="Link 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930652"/>
            <a:ext cx="402336" cy="402336"/>
          </a:xfrm>
          <a:prstGeom prst="rect">
            <a:avLst/>
          </a:prstGeom>
        </p:spPr>
      </p:pic>
      <p:sp>
        <p:nvSpPr>
          <p:cNvPr id="16" name="Members card"/>
          <p:cNvSpPr/>
          <p:nvPr/>
        </p:nvSpPr>
        <p:spPr>
          <a:xfrm>
            <a:off x="8412480" y="1828800"/>
            <a:ext cx="320040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7" name="Members icon circle"/>
          <p:cNvSpPr/>
          <p:nvPr/>
        </p:nvSpPr>
        <p:spPr>
          <a:xfrm>
            <a:off x="868680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Member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224028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37260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8686800" y="2834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member_id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 program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Borrowings connect a member with a book.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5029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Book and Member classes format records for display. Email input is checked with a regular expression, and random is used for sample borrowing data.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7406640" y="4663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Current sample database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406640" y="4983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000" dirty="0"/>
          </a:p>
        </p:txBody>
      </p:sp>
      <p:sp>
        <p:nvSpPr>
          <p:cNvPr id="25" name="Text 18"/>
          <p:cNvSpPr txBox="1"/>
          <p:nvPr/>
        </p:nvSpPr>
        <p:spPr>
          <a:xfrm>
            <a:off x="7406640" y="5669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books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8823960" y="4983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000" dirty="0"/>
          </a:p>
        </p:txBody>
      </p:sp>
      <p:sp>
        <p:nvSpPr>
          <p:cNvPr id="27" name="Text 20"/>
          <p:cNvSpPr txBox="1"/>
          <p:nvPr/>
        </p:nvSpPr>
        <p:spPr>
          <a:xfrm>
            <a:off x="8823960" y="5669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members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241280" y="4983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000" dirty="0"/>
          </a:p>
        </p:txBody>
      </p:sp>
      <p:sp>
        <p:nvSpPr>
          <p:cNvPr id="29" name="Text 22"/>
          <p:cNvSpPr txBox="1"/>
          <p:nvPr/>
        </p:nvSpPr>
        <p:spPr>
          <a:xfrm>
            <a:off x="10241280" y="5669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borrowings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records</a:t>
            </a:r>
            <a:endParaRPr lang="en-US" sz="3400" dirty="0"/>
          </a:p>
        </p:txBody>
      </p:sp>
      <p:sp>
        <p:nvSpPr>
          <p:cNvPr id="3" name="Author pill"/>
          <p:cNvSpPr/>
          <p:nvPr/>
        </p:nvSpPr>
        <p:spPr>
          <a:xfrm>
            <a:off x="548640" y="1188720"/>
            <a:ext cx="329184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Kuanysh Asker  ·  Task 1</a:t>
            </a:r>
            <a:endParaRPr lang="en-US" sz="1400" dirty="0"/>
          </a:p>
        </p:txBody>
      </p:sp>
      <p:sp>
        <p:nvSpPr>
          <p:cNvPr id="5" name="Add functions code frame"/>
          <p:cNvSpPr/>
          <p:nvPr/>
        </p:nvSpPr>
        <p:spPr>
          <a:xfrm>
            <a:off x="548640" y="1828800"/>
            <a:ext cx="6675120" cy="3429000"/>
          </a:xfrm>
          <a:prstGeom prst="roundRect">
            <a:avLst>
              <a:gd name="adj" fmla="val 2667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Add functions code" descr="/tmp/claude-0/-home-claude-mister-pepe/cc8936af-b529-58f0-9534-9305d1004561/scratchpad/src/img/s3_Pictur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087" y="1965960"/>
            <a:ext cx="5464226" cy="3154680"/>
          </a:xfrm>
          <a:prstGeom prst="rect">
            <a:avLst/>
          </a:prstGeom>
        </p:spPr>
      </p:pic>
      <p:sp>
        <p:nvSpPr>
          <p:cNvPr id="7" name="Add book output frame"/>
          <p:cNvSpPr/>
          <p:nvPr/>
        </p:nvSpPr>
        <p:spPr>
          <a:xfrm>
            <a:off x="7589520" y="1828800"/>
            <a:ext cx="4050792" cy="2011680"/>
          </a:xfrm>
          <a:prstGeom prst="roundRect">
            <a:avLst>
              <a:gd name="adj" fmla="val 4545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Add book output" descr="/tmp/claude-0/-home-claude-mister-pepe/cc8936af-b529-58f0-9534-9305d1004561/scratchpad/src/img/s3_Pictur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2006334"/>
            <a:ext cx="3776472" cy="16566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402336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terminal shows a book added successfully.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functions ask for book or member details, check required fields, then save to SQLite.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Displaying records</a:t>
            </a:r>
            <a:endParaRPr lang="en-US" sz="3400" dirty="0"/>
          </a:p>
        </p:txBody>
      </p:sp>
      <p:sp>
        <p:nvSpPr>
          <p:cNvPr id="3" name="Author pill"/>
          <p:cNvSpPr/>
          <p:nvPr/>
        </p:nvSpPr>
        <p:spPr>
          <a:xfrm>
            <a:off x="548640" y="1188720"/>
            <a:ext cx="329184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Kuanysh Asker  ·  Task 2</a:t>
            </a:r>
            <a:endParaRPr lang="en-US" sz="1400" dirty="0"/>
          </a:p>
        </p:txBody>
      </p:sp>
      <p:sp>
        <p:nvSpPr>
          <p:cNvPr id="5" name="Display menu code frame"/>
          <p:cNvSpPr/>
          <p:nvPr/>
        </p:nvSpPr>
        <p:spPr>
          <a:xfrm>
            <a:off x="548640" y="1828800"/>
            <a:ext cx="6675120" cy="3429000"/>
          </a:xfrm>
          <a:prstGeom prst="roundRect">
            <a:avLst>
              <a:gd name="adj" fmla="val 2667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isplay menu code" descr="/tmp/claude-0/-home-claude-mister-pepe/cc8936af-b529-58f0-9534-9305d1004561/scratchpad/src/img/s4_Pictur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615" y="1965960"/>
            <a:ext cx="3847171" cy="3154680"/>
          </a:xfrm>
          <a:prstGeom prst="rect">
            <a:avLst/>
          </a:prstGeom>
        </p:spPr>
      </p:pic>
      <p:sp>
        <p:nvSpPr>
          <p:cNvPr id="7" name="Borrowings output frame"/>
          <p:cNvSpPr/>
          <p:nvPr/>
        </p:nvSpPr>
        <p:spPr>
          <a:xfrm>
            <a:off x="7589520" y="1828800"/>
            <a:ext cx="4050792" cy="1691640"/>
          </a:xfrm>
          <a:prstGeom prst="roundRect">
            <a:avLst>
              <a:gd name="adj" fmla="val 5405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Borrowings output" descr="/tmp/claude-0/-home-claude-mister-pepe/cc8936af-b529-58f0-9534-9305d1004561/scratchpad/src/img/s4_Pictur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992337"/>
            <a:ext cx="3776472" cy="1364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370332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Example output: borrowing ID, book ID, member ID, and status.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menu lets the user choose books, members, or borrowings. Each option reads saved rows from the database.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the records</a:t>
            </a:r>
            <a:endParaRPr lang="en-US" sz="3400" dirty="0"/>
          </a:p>
        </p:txBody>
      </p:sp>
      <p:sp>
        <p:nvSpPr>
          <p:cNvPr id="3" name="Author pill"/>
          <p:cNvSpPr/>
          <p:nvPr/>
        </p:nvSpPr>
        <p:spPr>
          <a:xfrm>
            <a:off x="548640" y="1188720"/>
            <a:ext cx="329184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Zhan Sharkhanov  ·  Task 4</a:t>
            </a:r>
            <a:endParaRPr lang="en-US" sz="1400" dirty="0"/>
          </a:p>
        </p:txBody>
      </p:sp>
      <p:sp>
        <p:nvSpPr>
          <p:cNvPr id="5" name="Search code frame"/>
          <p:cNvSpPr/>
          <p:nvPr/>
        </p:nvSpPr>
        <p:spPr>
          <a:xfrm>
            <a:off x="548640" y="1828800"/>
            <a:ext cx="6675120" cy="2011680"/>
          </a:xfrm>
          <a:prstGeom prst="roundRect">
            <a:avLst>
              <a:gd name="adj" fmla="val 4545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Search code" descr="/tmp/claude-0/-home-claude-mister-pepe/cc8936af-b529-58f0-9534-9305d1004561/scratchpad/src/img/s5_Pictur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87366"/>
            <a:ext cx="6400800" cy="1694547"/>
          </a:xfrm>
          <a:prstGeom prst="rect">
            <a:avLst/>
          </a:prstGeom>
        </p:spPr>
      </p:pic>
      <p:sp>
        <p:nvSpPr>
          <p:cNvPr id="7" name="Member search output frame"/>
          <p:cNvSpPr/>
          <p:nvPr/>
        </p:nvSpPr>
        <p:spPr>
          <a:xfrm>
            <a:off x="7589520" y="1828800"/>
            <a:ext cx="4050792" cy="2880360"/>
          </a:xfrm>
          <a:prstGeom prst="roundRect">
            <a:avLst>
              <a:gd name="adj" fmla="val 3175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Member search output" descr="/tmp/claude-0/-home-claude-mister-pepe/cc8936af-b529-58f0-9534-9305d1004561/scratchpad/src/img/s5_Pictur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542" y="1965960"/>
            <a:ext cx="3342747" cy="2606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48463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Example: “Inkar” finds member ID 20.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Search by part of a book title, or search members by name or ID.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from the database</a:t>
            </a:r>
            <a:endParaRPr lang="en-US" sz="3400" dirty="0"/>
          </a:p>
        </p:txBody>
      </p:sp>
      <p:sp>
        <p:nvSpPr>
          <p:cNvPr id="3" name="Author pill"/>
          <p:cNvSpPr/>
          <p:nvPr/>
        </p:nvSpPr>
        <p:spPr>
          <a:xfrm>
            <a:off x="548640" y="1188720"/>
            <a:ext cx="329184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Zhan Sharkhanov  ·  Task 3</a:t>
            </a:r>
            <a:endParaRPr lang="en-US" sz="1400" dirty="0"/>
          </a:p>
        </p:txBody>
      </p:sp>
      <p:sp>
        <p:nvSpPr>
          <p:cNvPr id="5" name="Statistics code frame"/>
          <p:cNvSpPr/>
          <p:nvPr/>
        </p:nvSpPr>
        <p:spPr>
          <a:xfrm>
            <a:off x="548640" y="1828800"/>
            <a:ext cx="6675120" cy="16002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Statistics code" descr="/tmp/claude-0/-home-claude-mister-pepe/cc8936af-b529-58f0-9534-9305d1004561/scratchpad/src/img/s6_Pictur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20860"/>
            <a:ext cx="6400800" cy="1216079"/>
          </a:xfrm>
          <a:prstGeom prst="rect">
            <a:avLst/>
          </a:prstGeom>
        </p:spPr>
      </p:pic>
      <p:sp>
        <p:nvSpPr>
          <p:cNvPr id="7" name="Statistics output frame"/>
          <p:cNvSpPr/>
          <p:nvPr/>
        </p:nvSpPr>
        <p:spPr>
          <a:xfrm>
            <a:off x="7589520" y="1828800"/>
            <a:ext cx="4050792" cy="3429000"/>
          </a:xfrm>
          <a:prstGeom prst="roundRect">
            <a:avLst>
              <a:gd name="adj" fmla="val 2667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Statistics output" descr="/tmp/claude-0/-home-claude-mister-pepe/cc8936af-b529-58f0-9534-9305d1004561/scratchpad/src/img/s6_Pictur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036" y="1965960"/>
            <a:ext cx="3407761" cy="3154680"/>
          </a:xfrm>
          <a:prstGeom prst="rect">
            <a:avLst/>
          </a:prstGeom>
        </p:spPr>
      </p:pic>
      <p:sp>
        <p:nvSpPr>
          <p:cNvPr id="9" name="Stat total borrowings"/>
          <p:cNvSpPr/>
          <p:nvPr/>
        </p:nvSpPr>
        <p:spPr>
          <a:xfrm>
            <a:off x="548640" y="3657600"/>
            <a:ext cx="21031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152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526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borrowings</a:t>
            </a:r>
            <a:endParaRPr lang="en-US" sz="1400" dirty="0"/>
          </a:p>
        </p:txBody>
      </p:sp>
      <p:sp>
        <p:nvSpPr>
          <p:cNvPr id="12" name="Stat current loans"/>
          <p:cNvSpPr/>
          <p:nvPr/>
        </p:nvSpPr>
        <p:spPr>
          <a:xfrm>
            <a:off x="2834640" y="3657600"/>
            <a:ext cx="21031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01752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3017520" y="4526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current loans</a:t>
            </a:r>
            <a:endParaRPr lang="en-US" sz="1400" dirty="0"/>
          </a:p>
        </p:txBody>
      </p:sp>
      <p:sp>
        <p:nvSpPr>
          <p:cNvPr id="15" name="Stat loans of Python Crash Course"/>
          <p:cNvSpPr/>
          <p:nvPr/>
        </p:nvSpPr>
        <p:spPr>
          <a:xfrm>
            <a:off x="5120640" y="3657600"/>
            <a:ext cx="21031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30352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5303520" y="4526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loans of Python Crash Course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program counts all borrowing records and current loans, then finds the most borrowed title.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and exporting</a:t>
            </a:r>
            <a:endParaRPr lang="en-US" sz="3400" dirty="0"/>
          </a:p>
        </p:txBody>
      </p:sp>
      <p:sp>
        <p:nvSpPr>
          <p:cNvPr id="3" name="Author pill"/>
          <p:cNvSpPr/>
          <p:nvPr/>
        </p:nvSpPr>
        <p:spPr>
          <a:xfrm>
            <a:off x="548640" y="1188720"/>
            <a:ext cx="329184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Zhanibek Uzakbai  ·  Tasks 5–6</a:t>
            </a:r>
            <a:endParaRPr lang="en-US" sz="1400" dirty="0"/>
          </a:p>
        </p:txBody>
      </p:sp>
      <p:sp>
        <p:nvSpPr>
          <p:cNvPr id="5" name="Update and export code frame"/>
          <p:cNvSpPr/>
          <p:nvPr/>
        </p:nvSpPr>
        <p:spPr>
          <a:xfrm>
            <a:off x="548640" y="1828800"/>
            <a:ext cx="6675120" cy="3429000"/>
          </a:xfrm>
          <a:prstGeom prst="roundRect">
            <a:avLst>
              <a:gd name="adj" fmla="val 2667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Update and export code" descr="/tmp/claude-0/-home-claude-mister-pepe/cc8936af-b529-58f0-9534-9305d1004561/scratchpad/src/img/s7_Picture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629" y="1965960"/>
            <a:ext cx="4467141" cy="3154680"/>
          </a:xfrm>
          <a:prstGeom prst="rect">
            <a:avLst/>
          </a:prstGeom>
        </p:spPr>
      </p:pic>
      <p:sp>
        <p:nvSpPr>
          <p:cNvPr id="7" name="Export summary output frame"/>
          <p:cNvSpPr/>
          <p:nvPr/>
        </p:nvSpPr>
        <p:spPr>
          <a:xfrm>
            <a:off x="7589520" y="1828800"/>
            <a:ext cx="4050792" cy="2926080"/>
          </a:xfrm>
          <a:prstGeom prst="roundRect">
            <a:avLst>
              <a:gd name="adj" fmla="val 3125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Export summary output" descr="/tmp/claude-0/-home-claude-mister-pepe/cc8936af-b529-58f0-9534-9305d1004561/scratchpad/src/img/s7_Pictur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364" y="1965960"/>
            <a:ext cx="2603104" cy="2651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489204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Latest export summary and borrowing list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He added functions to update a book, cancel or return a borrowing, and export results.txt.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The current export shows 50 books, 40 members, 30 borrowing records, 12 active loans, and Python Crash Course as the most borrowed book.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meme" descr="/tmp/claude-0/-home-claude-mister-pepe/cc8936af-b529-58f0-9534-9305d1004561/scratchpad/meme/meme_h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599" y="548640"/>
            <a:ext cx="8588497" cy="57607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brary Forest">
  <a:themeElements>
    <a:clrScheme name="Library Forest">
      <a:dk1>
        <a:srgbClr val="1F2A28"/>
      </a:dk1>
      <a:lt1>
        <a:srgbClr val="FFFFFF"/>
      </a:lt1>
      <a:dk2>
        <a:srgbClr val="1E3B34"/>
      </a:dk2>
      <a:lt2>
        <a:srgbClr val="E8F0ED"/>
      </a:lt2>
      <a:accent1>
        <a:srgbClr val="D99A2B"/>
      </a:accent1>
      <a:accent2>
        <a:srgbClr val="2C5248"/>
      </a:accent2>
      <a:accent3>
        <a:srgbClr val="7FA89B"/>
      </a:accent3>
      <a:accent4>
        <a:srgbClr val="A9C4BB"/>
      </a:accent4>
      <a:accent5>
        <a:srgbClr val="5B6B67"/>
      </a:accent5>
      <a:accent6>
        <a:srgbClr val="1A1D21"/>
      </a:accent6>
      <a:hlink>
        <a:srgbClr val="2C6E9B"/>
      </a:hlink>
      <a:folHlink>
        <a:srgbClr val="6B4E9B"/>
      </a:folHlink>
    </a:clrScheme>
    <a:fontScheme name="Library For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Library System</dc:title>
  <dc:subject>PptxGenJS Presentation</dc:subject>
  <dc:creator>PptxGenJS</dc:creator>
  <cp:lastModifiedBy>PptxGenJS</cp:lastModifiedBy>
  <cp:revision>1</cp:revision>
  <dcterms:created xsi:type="dcterms:W3CDTF">2026-10-18T11:58:21Z</dcterms:created>
  <dcterms:modified xsi:type="dcterms:W3CDTF">2026-10-18T11:58:21Z</dcterms:modified>
</cp:coreProperties>
</file>